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200400" cy="674827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4630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3749039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A820"/>
                </a:solidFill>
                <a:latin typeface="Calibri"/>
              </a:rPr>
              <a:t>Bearing Fault
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0116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MIC-300: Lab Based Project  |  Spring 2025-26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  <a:latin typeface="Calibri"/>
              </a:rPr>
              <a:t>Department of Mechanical and Industrial Engineering, IIT Roorkee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Multi-Objective Clustering
with Feature Sparsity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889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A820"/>
                </a:solidFill>
                <a:latin typeface="Calibri"/>
              </a:rPr>
              <a:t>for Bearing Fault Diagnosis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401568"/>
            <a:ext cx="8412480" cy="36576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520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EE"/>
                </a:solidFill>
                <a:latin typeface="Calibri"/>
              </a:rPr>
              <a:t>Students: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2044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Advik Goyal  |  [Team Member 2]  |  [Team Member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587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EE"/>
                </a:solidFill>
                <a:latin typeface="Calibri"/>
              </a:rPr>
              <a:t>Supervisor: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5876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Prof. [Supervisor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2062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  <a:latin typeface="Calibri"/>
              </a:rPr>
              <a:t>March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4709160"/>
            <a:ext cx="964692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4736592"/>
            <a:ext cx="8915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NSGA-II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5132" y="4709160"/>
            <a:ext cx="2436876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9996" y="4736592"/>
            <a:ext cx="23637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Unsupervised 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4709160"/>
            <a:ext cx="1490472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473659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CWRU Dataset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4709160"/>
            <a:ext cx="2226564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41664" y="4736592"/>
            <a:ext cx="21534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Pareto Optimisation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50524" y="4709160"/>
            <a:ext cx="2016252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05388" y="4736592"/>
            <a:ext cx="19431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Feature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6263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A820"/>
                </a:solidFill>
                <a:latin typeface="Calibri"/>
              </a:rPr>
              <a:t>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64008" cy="65836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5303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B6CA8"/>
                </a:solidFill>
                <a:latin typeface="Calibri"/>
              </a:rPr>
              <a:t>Why do bearing faults matter — and why is this hard?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841248"/>
            <a:ext cx="11841480" cy="274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987552"/>
            <a:ext cx="2743200" cy="1170432"/>
          </a:xfrm>
          <a:prstGeom prst="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1" y="1033272"/>
            <a:ext cx="265176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40–50%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1" y="1631289"/>
            <a:ext cx="2651760" cy="49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of rotating machine
failures from bearings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987552"/>
            <a:ext cx="2743200" cy="1170432"/>
          </a:xfrm>
          <a:prstGeom prst="rect">
            <a:avLst/>
          </a:prstGeom>
          <a:solidFill>
            <a:srgbClr val="1B6CA8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033272"/>
            <a:ext cx="265176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4 Fault
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631289"/>
            <a:ext cx="2651760" cy="49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Normal · IR · Ball · OR
@ 4 severity levels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987552"/>
            <a:ext cx="2743200" cy="1170432"/>
          </a:xfrm>
          <a:prstGeom prst="rect">
            <a:avLst/>
          </a:prstGeom>
          <a:solidFill>
            <a:srgbClr val="C0392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033272"/>
            <a:ext cx="265176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4 Load
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1631289"/>
            <a:ext cx="2651760" cy="49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0–3 HP  |  1730–1797 RPM
masks fault signatures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4856" y="987552"/>
            <a:ext cx="2743200" cy="1170432"/>
          </a:xfrm>
          <a:prstGeom prst="rect">
            <a:avLst/>
          </a:prstGeom>
          <a:solidFill>
            <a:srgbClr val="1A7A3C"/>
          </a:solidFill>
          <a:ln w="1524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033272"/>
            <a:ext cx="265176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7 Features
Extracted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631289"/>
            <a:ext cx="2651760" cy="49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RMS, Kurtosis, Skewness,
Crest, P2P, Std, Spec.Centroid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2331720"/>
            <a:ext cx="57607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" y="2331720"/>
            <a:ext cx="576072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3774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Challenge 1: Load-Condition Artefacts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77063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Different motor loads (0–3 HP) shift vibration amplitude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2461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Global normalisation fuses load variation with fault signatures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72160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Fix: per-load-condition StandardScaler before merging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331720"/>
            <a:ext cx="57607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331720"/>
            <a:ext cx="5760720" cy="36576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3774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Challenge 2: Class Imbalance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77063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OR fault has 3 mounting positions (@3, @6, @12) → 3× more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2461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Biases the clustering objective toward the over-represented 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72160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Fix: Random undersampling to median class 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4416552"/>
            <a:ext cx="57607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4592" y="4416552"/>
            <a:ext cx="5760720" cy="3657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462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Challenge 3: No Ground-Truth for Clustering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85546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Bearing fault diagnosis is inherently unsupervised at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33095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Labels only available for validation — not used during optimisation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80644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Evaluation: Adjusted Rand Index (ARI) + Silhouette 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3912" y="4416552"/>
            <a:ext cx="57607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53912" y="4416552"/>
            <a:ext cx="5760720" cy="3657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462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Challenge 4: Competing Objectives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85546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Tight clusters ≠ well-separated classes (compactness vs. separation)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33095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More features ≠ better clusters (curse of dimensionality)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80644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2A"/>
                </a:solidFill>
                <a:latin typeface="Calibri"/>
              </a:rPr>
              <a:t>▸  Solution: 3-objective Pareto optimisation (f1, f2, f3)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9576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B6C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64008" cy="65836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Research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5303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B6CA8"/>
                </a:solidFill>
                <a:latin typeface="Calibri"/>
              </a:rPr>
              <a:t>A rigorous multi-objective framework for unsupervised fault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841248"/>
            <a:ext cx="11841480" cy="274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1033272"/>
            <a:ext cx="50292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033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987552"/>
            <a:ext cx="11320272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04241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CA8"/>
                </a:solidFill>
                <a:latin typeface="Calibri"/>
              </a:rPr>
              <a:t>Dataset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33502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Build a robust preprocessing pipeline:
per-load-condition normalisation  ·  class balancing  ·  16-class severity labelling
→  7,335 balanced samples from 12k Drive-End CWRU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148839"/>
            <a:ext cx="502920" cy="5029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" y="21488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11320272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5798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  <a:latin typeface="Calibri"/>
              </a:rPr>
              <a:t>Chromosome 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50591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Design a unified variable-length chromosome:
[ K ]  [ K×D cluster centres ]  [ D-bit feature mask ]
→  78 variables representing K ∈ {2…10}, D = 7 features, simultaneous K + feature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3264408"/>
            <a:ext cx="5029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18688"/>
            <a:ext cx="11320272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7355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Three-Objective NSGA-II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566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Simultaneously minimise:
f1 Compactness (TWCSS/N/d)  ·  f2 Connectedness (kNN cross-cluster fraction)  ·  f3 Simplicity (L0 feature count)
→  200-population × 200-generation NSGA-II with hybrid initialisation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4379976"/>
            <a:ext cx="502920" cy="50292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" y="43799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334256"/>
            <a:ext cx="11320272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891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6A00"/>
                </a:solidFill>
                <a:latin typeface="Calibri"/>
              </a:rPr>
              <a:t>Pareto Analysis &amp;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81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Extract Pareto front  →  knee-point selection via normalised Chebyshev distance
Validate against ground-truth: ARI (4-class fault type)  +  ARI (16-class type × severity)
→  Silhouette Score as internal cohesion metric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5495544"/>
            <a:ext cx="50292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" y="54955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449824"/>
            <a:ext cx="11320272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50468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Physical Interpretation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9729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Map discovered minimal feature subsets to bearing fault physics
Identify which vibration statistics (RMS, Kurtosis, Spectral Centroid…) catch which fault modes
→  BPFI / BPFO / BSF marker validation via FFT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9576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B6C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64008" cy="65836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5303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B6CA8"/>
                </a:solidFill>
                <a:latin typeface="Calibri"/>
              </a:rPr>
              <a:t>Three-stage pipeline: Data → Optimisation → Interpretation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841248"/>
            <a:ext cx="11841480" cy="274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960120"/>
            <a:ext cx="3657600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9875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① Data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389888"/>
            <a:ext cx="73152" cy="32004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3990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  <a:latin typeface="Calibri"/>
              </a:rPr>
              <a:t>CWRU 12kHz .mat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1399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12k Drive-End, 4 fault types, 4 sizes, 4 loads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1810512"/>
            <a:ext cx="73152" cy="32004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181965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  <a:latin typeface="Calibri"/>
              </a:rPr>
              <a:t>Segment → Windows (n=1024)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1819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Extract fixed-length segments, compute 7 features/window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2231136"/>
            <a:ext cx="73152" cy="32004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240279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  <a:latin typeface="Calibri"/>
              </a:rPr>
              <a:t>Per-load StandardScaler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22402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Separate normaliser per load condition (FIX-1)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2651760"/>
            <a:ext cx="73152" cy="32004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266090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  <a:latin typeface="Calibri"/>
              </a:rPr>
              <a:t>Random Undersampling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26609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Balance to median class count (FIX-2)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072384"/>
            <a:ext cx="73152" cy="32004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308152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B2A"/>
                </a:solidFill>
                <a:latin typeface="Calibri"/>
              </a:rPr>
              <a:t>16-class composite 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fault_type × fault_size — for ARI validation (FIX-3)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58768" y="1188720"/>
            <a:ext cx="457200" cy="338328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6CA8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960120"/>
            <a:ext cx="4434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987552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② NSGA-II Optimisation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13898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Chromosome: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38988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[ K | C₁…C_K×D | mask₁…mask_D ]   (78 vars)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18105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Population: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1051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200 individuals  |  Hybrid init: KMeans + random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2311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Objectives: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223113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f1 TWCSS/N/d  ·  f2 kNN-penalty  ·  f3 L0-norm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2651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Operators: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265176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SBX + 1-pt crossover  |  Polynomial + bit-flip mutation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0723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Budget: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07238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200 generations  →  Pareto front (200 solutions)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06256" y="1188720"/>
            <a:ext cx="457200" cy="338328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06256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6CA8"/>
                </a:solidFill>
                <a:latin typeface="Calibri"/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00032" y="960120"/>
            <a:ext cx="2651760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472" y="9875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③ Analysis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00032" y="1389888"/>
            <a:ext cx="26517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91472" y="14264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C"/>
                </a:solidFill>
                <a:latin typeface="Calibri"/>
              </a:rPr>
              <a:t>Knee point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1472" y="16276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Min Chebyshev dist.
to ideal in norm. space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2" y="1956816"/>
            <a:ext cx="26517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91472" y="1993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C"/>
                </a:solidFill>
                <a:latin typeface="Calibri"/>
              </a:rPr>
              <a:t>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91472" y="21945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ARI (4-cls + 16-cls)
Silhouette Score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00032" y="2523744"/>
            <a:ext cx="26517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2560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C"/>
                </a:solidFill>
                <a:latin typeface="Calibri"/>
              </a:rPr>
              <a:t>Interpretation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91472" y="276148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Feature mask → physics
FFT + fault freq. markers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592" y="4407408"/>
            <a:ext cx="11841480" cy="36576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4592" y="4480560"/>
            <a:ext cx="118414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51713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Three Objectives Simultaneously Optimised by NSGA-II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4892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CA8"/>
                </a:solidFill>
                <a:latin typeface="Calibri"/>
              </a:rPr>
              <a:t>f₁  Compactness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urier New"/>
              </a:rPr>
              <a:t>min  TWCSS / (N · d_active)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546811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Total within-cluster sum of squares — measures how tightly grouped the data 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1959" y="4892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f₂  Connectedness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51959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urier New"/>
              </a:rPr>
              <a:t>min  Σ penalty(xᵢ, kNN(xᵢ))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51959" y="546811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Fraction of k nearest-neighbours that lie in a different cluster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3879" y="4892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C"/>
                </a:solidFill>
                <a:latin typeface="Calibri"/>
              </a:rPr>
              <a:t>f₃  Simplicity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79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urier New"/>
              </a:rPr>
              <a:t>min  ‖mask‖₀  ∈ {1…7}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546811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L0-norm of feature mask — forces the algorithm to use as few features as possible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79576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B6C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64008" cy="65836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Project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5303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B6CA8"/>
                </a:solidFill>
                <a:latin typeface="Calibri"/>
              </a:rPr>
              <a:t>MIC-300  |  Semester: November 2025 –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841248"/>
            <a:ext cx="11841480" cy="274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960120"/>
            <a:ext cx="1216151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987552"/>
            <a:ext cx="121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Nov '25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960120"/>
            <a:ext cx="1216151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987552"/>
            <a:ext cx="121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Dec '25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9824" y="960120"/>
            <a:ext cx="1216151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9824" y="987552"/>
            <a:ext cx="121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Jan '26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1696" y="960120"/>
            <a:ext cx="1216151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987552"/>
            <a:ext cx="121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Feb '26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7" y="960120"/>
            <a:ext cx="1216151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7" y="987552"/>
            <a:ext cx="121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Mar '26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960120"/>
            <a:ext cx="1216151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987552"/>
            <a:ext cx="121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Apr '26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97312" y="960120"/>
            <a:ext cx="1216151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97312" y="987552"/>
            <a:ext cx="121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May '26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389888"/>
            <a:ext cx="11887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43560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Literature Review &amp; Dataset Acquisition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1481328"/>
            <a:ext cx="2414015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7" y="14996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956816"/>
            <a:ext cx="11887200" cy="51206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200253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CWRU Preprocessing Pipeline (FIX 1-3)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7952" y="2048256"/>
            <a:ext cx="2414015" cy="32918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066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2523744"/>
            <a:ext cx="11887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2569463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Chromosome Encoding &amp; NSGA-II Framework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87952" y="2615184"/>
            <a:ext cx="3675887" cy="32918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0136" y="2633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3090672"/>
            <a:ext cx="11887200" cy="51206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313639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v1 Pipeline Run &amp; Pareto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9824" y="3182112"/>
            <a:ext cx="2414015" cy="32918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1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" y="3657600"/>
            <a:ext cx="11887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70332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v2 Bug Fixes &amp; Full Dataset Re-run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11696" y="3749039"/>
            <a:ext cx="2414015" cy="32918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3767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Done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4224528"/>
            <a:ext cx="11887200" cy="51206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427024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Mechanical Interpretation &amp; Visualisations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11696" y="4315968"/>
            <a:ext cx="2414015" cy="32918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43342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Done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" y="4791456"/>
            <a:ext cx="11887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48371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Comparative Analysis &amp; Insights Documentation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73567" y="4882896"/>
            <a:ext cx="2414015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14815" y="49011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" y="5358383"/>
            <a:ext cx="11887200" cy="51206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5404103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End-term Write-up &amp; Final Report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5449823"/>
            <a:ext cx="2414015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76688" y="5468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Upcoming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6492240"/>
            <a:ext cx="228600" cy="20116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64739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Completed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71800" y="6492240"/>
            <a:ext cx="228600" cy="201168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46120" y="64739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In Progress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15000" y="6492240"/>
            <a:ext cx="228600" cy="2011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89320" y="64739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Upcoming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58200" y="6492240"/>
            <a:ext cx="228600" cy="20116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32520" y="64739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Current Period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79576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B6C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64008" cy="65836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Work Done So Far —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5303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B6CA8"/>
                </a:solidFill>
                <a:latin typeface="Calibri"/>
              </a:rPr>
              <a:t>Dataset preparation, bug fixes and algorithm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841248"/>
            <a:ext cx="11841480" cy="274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960120"/>
            <a:ext cx="11841480" cy="34747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9784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  CWRU Dataset v2 — Three Critical Fixes Applied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353312"/>
            <a:ext cx="1828800" cy="914400"/>
          </a:xfrm>
          <a:prstGeom prst="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1" y="13990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7,335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8562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Balanced
samples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0552" y="1353312"/>
            <a:ext cx="1828800" cy="914400"/>
          </a:xfrm>
          <a:prstGeom prst="rect">
            <a:avLst/>
          </a:prstGeom>
          <a:solidFill>
            <a:srgbClr val="1B6CA8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13990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18562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Classes
(16-class)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96511" y="1353312"/>
            <a:ext cx="1828800" cy="914400"/>
          </a:xfrm>
          <a:prstGeom prst="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2231" y="13990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1" y="18562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Features
extracted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1" y="1353312"/>
            <a:ext cx="1828800" cy="914400"/>
          </a:xfrm>
          <a:prstGeom prst="rect">
            <a:avLst/>
          </a:prstGeom>
          <a:solidFill>
            <a:srgbClr val="1B6CA8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1" y="13990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1" y="18562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Fault
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1" y="1353312"/>
            <a:ext cx="1828800" cy="914400"/>
          </a:xfrm>
          <a:prstGeom prst="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13990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18562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OR files
loaded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94392" y="1353312"/>
            <a:ext cx="1828800" cy="914400"/>
          </a:xfrm>
          <a:prstGeom prst="rect">
            <a:avLst/>
          </a:prstGeom>
          <a:solidFill>
            <a:srgbClr val="1B6CA8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139903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185623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Load
conditions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2359152"/>
            <a:ext cx="3767328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592" y="2359152"/>
            <a:ext cx="3767328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24048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FIX 1: Per-Load Normalisation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2761488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▸  Old: single global StandardScaler mixed load variation with fault 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" y="3328416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▸  New: separate scaler per load condition (0, 1, 2, 3 HP) before merging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3895344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▸  Impact: primary driver of ARI improvement — load artefacts no longer dominate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42231" y="2359152"/>
            <a:ext cx="3767328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42231" y="2359152"/>
            <a:ext cx="3767328" cy="34747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33671" y="24048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FIX 2: Class Balancing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1" y="2761488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▸  OR fault had 3 mounting positions → 3× more segments than other classes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3671" y="3328416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▸  Random undersampling to median class count across all 4 fault types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3671" y="3895344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▸  Impact: prevents the clustering from being biased towards 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9871" y="2359152"/>
            <a:ext cx="3767328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9871" y="2359152"/>
            <a:ext cx="3767328" cy="3474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1311" y="24048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FIX 3: OR Recursive Glob + 16-class Labels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1" y="2761488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▸  Bug: non-recursive glob missed OR/007/@3/, @6/, @12/ subdirectories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1" y="3328416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▸  Fix: glob(..., recursive=True) now loads all 28 OR files (was 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1" y="3895344"/>
            <a:ext cx="3566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▸  Severity label: fault_type × fault_size → 12 distinct classes for ARI-16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" y="4617720"/>
            <a:ext cx="118414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" y="463600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  NSGA-II Implementation Highlights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" y="5010912"/>
            <a:ext cx="1920240" cy="34747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" y="5056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Hybrid Init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21408" y="5056632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1/3 KMeans-seeded  +  1/3 random data-point centres  +  1/3 pure random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5413248"/>
            <a:ext cx="1920240" cy="34747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1168" y="5458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Custom Crossover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458968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SBX on continuous centre genes  +  1-point crossover on 7-bit feature mask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" y="5815584"/>
            <a:ext cx="1920240" cy="34747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1168" y="58613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Custom Mutation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21408" y="5861304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Polynomial mutation + bit-flip (p=0.15) + structural K±1 (p=0.1)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4592" y="6217920"/>
            <a:ext cx="1920240" cy="34747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1168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History Callbacks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6263640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Snapshots at gens {1,5,10,20,35,50,75,100,150,200} for convergence study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79576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B6C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64008" cy="65836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1B2A"/>
                </a:solidFill>
                <a:latin typeface="Calibri"/>
              </a:rPr>
              <a:t>Work Done So Far —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5303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B6CA8"/>
                </a:solidFill>
                <a:latin typeface="Calibri"/>
              </a:rPr>
              <a:t>NSGA-II results, Pareto front analysis and physical interpretation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841248"/>
            <a:ext cx="11841480" cy="274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960120"/>
            <a:ext cx="1828800" cy="1005840"/>
          </a:xfrm>
          <a:prstGeom prst="rect">
            <a:avLst/>
          </a:prstGeom>
          <a:solidFill>
            <a:srgbClr val="1B6CA8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1" y="1005840"/>
            <a:ext cx="17373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0.36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1" y="1513332"/>
            <a:ext cx="173736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ARI (4-class)
fault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960120"/>
            <a:ext cx="1828800" cy="1005840"/>
          </a:xfrm>
          <a:prstGeom prst="rect">
            <a:avLst/>
          </a:prstGeom>
          <a:solidFill>
            <a:srgbClr val="1A7A3C"/>
          </a:solidFill>
          <a:ln w="1524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005840"/>
            <a:ext cx="17373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513332"/>
            <a:ext cx="173736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ARI (16-class)
type×severity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7" y="960120"/>
            <a:ext cx="1828800" cy="1005840"/>
          </a:xfrm>
          <a:prstGeom prst="rect">
            <a:avLst/>
          </a:prstGeom>
          <a:solidFill>
            <a:srgbClr val="C0392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1005840"/>
            <a:ext cx="17373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0.82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1513332"/>
            <a:ext cx="173736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Silhouette
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960120"/>
            <a:ext cx="1828800" cy="1005840"/>
          </a:xfrm>
          <a:prstGeom prst="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5" y="1005840"/>
            <a:ext cx="17373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5" y="1513332"/>
            <a:ext cx="173736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Pareto
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3" y="960120"/>
            <a:ext cx="1828800" cy="1005840"/>
          </a:xfrm>
          <a:prstGeom prst="rect">
            <a:avLst/>
          </a:prstGeom>
          <a:solidFill>
            <a:srgbClr val="D46A00"/>
          </a:solidFill>
          <a:ln w="15240"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1005840"/>
            <a:ext cx="17373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1–2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1513332"/>
            <a:ext cx="173736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f3 active
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5832" y="960120"/>
            <a:ext cx="1828800" cy="1005840"/>
          </a:xfrm>
          <a:prstGeom prst="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2" y="1005840"/>
            <a:ext cx="173736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820"/>
                </a:solidFill>
                <a:latin typeface="Calibri"/>
              </a:rPr>
              <a:t>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1552" y="1513332"/>
            <a:ext cx="1737360" cy="42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Dominant
feature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2084831"/>
            <a:ext cx="5669280" cy="3657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21031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Pareto Front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2487168"/>
            <a:ext cx="5669280" cy="457200"/>
          </a:xfrm>
          <a:prstGeom prst="rect">
            <a:avLst/>
          </a:prstGeom>
          <a:solidFill>
            <a:srgbClr val="0D1B2A"/>
          </a:solidFill>
          <a:ln w="1016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257860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Solution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257860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0944" y="257860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257860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ARI (4cls)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2962656"/>
            <a:ext cx="5669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" y="305409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Knee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91056" y="305409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80944" y="305409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305409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0.3595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" y="3438144"/>
            <a:ext cx="5669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" y="3529584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Best 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91056" y="3529584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3529584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RMS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2" y="3529584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0.3595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3913632"/>
            <a:ext cx="5669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" y="400507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Most compact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91056" y="400507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80944" y="400507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RMS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2" y="400507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0.2904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" y="4389120"/>
            <a:ext cx="5669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" y="44805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f3=2 example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91056" y="44805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80944" y="44805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RMS + Kurtosis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70832" y="448056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0.3102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2084831"/>
            <a:ext cx="6035040" cy="3657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2103120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Physical Interpretation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2487168"/>
            <a:ext cx="6035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2542032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7A3C"/>
                </a:solidFill>
                <a:latin typeface="Calibri"/>
              </a:rPr>
              <a:t>▸  RMS dominates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2834640"/>
            <a:ext cx="58338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After per-load normalisation, overall energy level (RMS) is the
single most discriminative feature — confirming that fault-induced
energy changes are the primary clustering signal.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3785616"/>
            <a:ext cx="6035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0760" y="3840480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7A3C"/>
                </a:solidFill>
                <a:latin typeface="Calibri"/>
              </a:rPr>
              <a:t>▸  f3 Pareto range: 1–2 features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0760" y="4133088"/>
            <a:ext cx="58338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Adding features beyond RMS does not improve cluster quality.
Curse of dimensionality: 7 features all similarly discriminative
→ sparse is better in this 7-dimensional space.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5084064"/>
            <a:ext cx="6035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0760" y="5138928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7A3C"/>
                </a:solidFill>
                <a:latin typeface="Calibri"/>
              </a:rPr>
              <a:t>▸  16-class ARI &gt; 4-class ARI (0.50 vs 0.36)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0760" y="5431536"/>
            <a:ext cx="58338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Clusters align more closely with fault_type × severity than
fault_type alone — the algorithm discovers severity sub-structure
even without severity labels during training.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4592" y="5925312"/>
            <a:ext cx="11841480" cy="36576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4592" y="5989320"/>
            <a:ext cx="11841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035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v1 → v2 Comparison: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035040"/>
            <a:ext cx="9784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  <a:latin typeface="Calibri"/>
              </a:rPr>
              <a:t>Dataset: 5,678 → 7,335 samples   |   OR files loaded: 4 → 28   |   Silhouette: 0.838 → 0.815   |   Note: lower ARI in v2 reflects harder, more realistic clustering (full OR class variation)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9576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B6C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713232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70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Live Demonstration  —  Interactive 3-D Pareto Front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74552" cy="5120640"/>
          </a:xfrm>
          <a:prstGeom prst="rect">
            <a:avLst/>
          </a:prstGeom>
          <a:solidFill>
            <a:srgbClr val="1A2A3A"/>
          </a:solidFill>
          <a:ln w="254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820"/>
                </a:solidFill>
                <a:latin typeface="Courier New"/>
              </a:rPr>
              <a:t>pareto_3d_interactive.html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2103120" cy="47548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Drag to rotate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173736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Fully rotatable 3-D scatter of all 200 Pareto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04288"/>
            <a:ext cx="2103120" cy="47548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Hover for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37744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Each point shows: K, active features, ARI, Silhouette, f1/f2/f3 values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44368"/>
            <a:ext cx="2103120" cy="47548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Red ◆ = Knee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0175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Minimum Chebyshev distance to ideal — best balanced 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584448"/>
            <a:ext cx="2103120" cy="47548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Gold ■ = Best 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65760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Solution with highest Adjusted Rand Index vs. fault labels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224528"/>
            <a:ext cx="2103120" cy="47548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Colour = 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429768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Green → higher ARI (better fault alignment), Red → lower ARI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864608"/>
            <a:ext cx="2103120" cy="47548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93776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f1 Compactness  ×  f2 Connectedness  ×  f3 Simplicity (# features)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  <a:latin typeface="Courier New"/>
              </a:rPr>
              <a:t>Open  moc_results_v2/pareto_3d_interactive.html  in any browser — no server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8A82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